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3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Silent Cartographer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E6E6E6"/>
                </a:solidFill>
              </a:defRPr>
            </a:pPr>
            <a:r>
              <a:t>Hybrid Reinforcement Learning + A* Maze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8D8D8"/>
                </a:solidFill>
              </a:defRPr>
            </a:pPr>
            <a:r>
              <a:t>COSC 4368  •  Spring 2026  •  Final Submission</a:t>
            </a:r>
          </a:p>
          <a:p>
            <a:pPr algn="ctr">
              <a:defRPr sz="1800">
                <a:solidFill>
                  <a:srgbClr val="D8D8D8"/>
                </a:solidFill>
              </a:defRPr>
            </a:pPr>
            <a:r>
              <a:t>Group 15 — Marlon Melara, Ahnaf Murshid</a:t>
            </a:r>
          </a:p>
          <a:p>
            <a:pPr algn="ctr">
              <a:defRPr sz="1800">
                <a:solidFill>
                  <a:srgbClr val="D8D8D8"/>
                </a:solidFill>
              </a:defRPr>
            </a:pPr>
            <a:r>
              <a:t>April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64×64 grid maze, agent has no sensors — learns only by bumping and dying.</a:t>
            </a:r>
          </a:p>
          <a:p>
            <a:pPr>
              <a:spcAft>
                <a:spcPts val="600"/>
              </a:spcAft>
              <a:defRPr sz="2000"/>
            </a:pPr>
            <a:r>
              <a:t>• Hazards: rotating V-shaped fire clusters (90° every 5 actions), teleport pads, confusion pads.</a:t>
            </a:r>
          </a:p>
          <a:p>
            <a:pPr>
              <a:spcAft>
                <a:spcPts val="600"/>
              </a:spcAft>
              <a:defRPr sz="2000"/>
            </a:pPr>
            <a:r>
              <a:t>• Each turn, submit 1–5 actions; environment returns a TurnResult.</a:t>
            </a:r>
          </a:p>
          <a:p>
            <a:pPr>
              <a:spcAft>
                <a:spcPts val="600"/>
              </a:spcAft>
              <a:defRPr sz="2000"/>
            </a:pPr>
            <a:r>
              <a:t>• Train on maze-alpha; test on maze-beta (no retraining per spec).</a:t>
            </a:r>
          </a:p>
          <a:p>
            <a:pPr>
              <a:spcAft>
                <a:spcPts val="600"/>
              </a:spcAft>
              <a:defRPr sz="2000"/>
            </a:pPr>
            <a:r>
              <a:t>• Required metrics: success rate, avg turns, avg path length, death rate.</a:t>
            </a:r>
          </a:p>
          <a:p>
            <a:pPr>
              <a:spcAft>
                <a:spcPts val="600"/>
              </a:spcAft>
              <a:defRPr sz="2000"/>
            </a:pPr>
            <a:r>
              <a:t>• Bonus metrics: exploration efficiency, map completeness, replanning efficiency, learning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Approach — Why Hybrid RL + A*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Reinforcement Learning</a:t>
            </a:r>
          </a:p>
          <a:p>
            <a:pPr>
              <a:spcAft>
                <a:spcPts val="600"/>
              </a:spcAft>
              <a:defRPr sz="1700"/>
            </a:pPr>
            <a:r>
              <a:t>• Handles delayed, sparse hazard feedback — you only learn a cell is a fire after you die on it.</a:t>
            </a:r>
          </a:p>
          <a:p>
            <a:pPr>
              <a:spcAft>
                <a:spcPts val="600"/>
              </a:spcAft>
              <a:defRPr sz="1700"/>
            </a:pPr>
            <a:r>
              <a:t>• TD(0) updates spread danger to Manhattan neighbors, so the agent detours regions, not cells.</a:t>
            </a:r>
          </a:p>
          <a:p>
            <a:pPr>
              <a:spcAft>
                <a:spcPts val="600"/>
              </a:spcAft>
              <a:defRPr sz="1700"/>
            </a:pPr>
            <a:r>
              <a:t>• Hyperparameters transfer alpha → beta even when cell state resets.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Classical A* Search</a:t>
            </a:r>
          </a:p>
          <a:p>
            <a:pPr>
              <a:spcAft>
                <a:spcPts val="600"/>
              </a:spcAft>
              <a:defRPr sz="1700"/>
            </a:pPr>
            <a:r>
              <a:t>• Known edges are deterministic forever — search exploits that immediately.</a:t>
            </a:r>
          </a:p>
          <a:p>
            <a:pPr>
              <a:spcAft>
                <a:spcPts val="600"/>
              </a:spcAft>
              <a:defRPr sz="1700"/>
            </a:pPr>
            <a:r>
              <a:t>• Manhattan heuristic keeps 64×64 planning in milliseconds.</a:t>
            </a:r>
          </a:p>
          <a:p>
            <a:pPr>
              <a:spcAft>
                <a:spcPts val="600"/>
              </a:spcAft>
              <a:defRPr sz="1700"/>
            </a:pPr>
            <a:r>
              <a:t>• Visit counts + risk penalties become edge weights in phase-aware BFS.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Loop: environment returns TurnResult → agent integrates → plans → submits 1–5 actions.</a:t>
            </a:r>
          </a:p>
          <a:p>
            <a:pPr>
              <a:spcAft>
                <a:spcPts val="600"/>
              </a:spcAft>
              <a:defRPr sz="2000"/>
            </a:pPr>
            <a:r>
              <a:t>• Integration updates: walls, per-phase fire sets, teleport map, confusion pads, Q-table.</a:t>
            </a:r>
          </a:p>
          <a:p>
            <a:pPr>
              <a:spcAft>
                <a:spcPts val="600"/>
              </a:spcAft>
              <a:defRPr sz="2000"/>
            </a:pPr>
            <a:r>
              <a:t>• Planner: phase-aware BFS + goal-biased frontier selector.</a:t>
            </a:r>
          </a:p>
          <a:p>
            <a:pPr>
              <a:spcAft>
                <a:spcPts val="600"/>
              </a:spcAft>
              <a:defRPr sz="2000"/>
            </a:pPr>
            <a:r>
              <a:t>• RL layer: 64×64×4 Q-table decayed between episodes (prevents stale fear).</a:t>
            </a:r>
          </a:p>
          <a:p>
            <a:pPr>
              <a:spcAft>
                <a:spcPts val="600"/>
              </a:spcAft>
              <a:defRPr sz="2000"/>
            </a:pPr>
            <a:r>
              <a:t>• Same loop, same planner, same hyperparameters across all three mazes.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Rotating Fire Hazards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Fires arranged in V-clusters, pivot at the tip of the V.</a:t>
            </a:r>
          </a:p>
          <a:p>
            <a:pPr>
              <a:spcAft>
                <a:spcPts val="600"/>
              </a:spcAft>
              <a:defRPr sz="1800"/>
            </a:pPr>
            <a:r>
              <a:t>• Rotate 90° clockwise every 5 cumulative actions.</a:t>
            </a:r>
          </a:p>
          <a:p>
            <a:pPr>
              <a:spcAft>
                <a:spcPts val="600"/>
              </a:spcAft>
              <a:defRPr sz="1800"/>
            </a:pPr>
            <a:r>
              <a:t>• Agent has no visual — learns by dying.</a:t>
            </a:r>
          </a:p>
          <a:p>
            <a:pPr>
              <a:spcAft>
                <a:spcPts val="600"/>
              </a:spcAft>
              <a:defRPr sz="1800"/>
            </a:pPr>
            <a:r>
              <a:t>• We pre-compute all 4 rotation states at environment construction.</a:t>
            </a:r>
          </a:p>
          <a:p>
            <a:pPr>
              <a:spcAft>
                <a:spcPts val="600"/>
              </a:spcAft>
              <a:defRPr sz="1800"/>
            </a:pPr>
            <a:r>
              <a:t>• Conservative: a cell that has EVER been a fire is dangerous across all phases by default.</a:t>
            </a:r>
          </a:p>
        </p:txBody>
      </p:sp>
      <p:pic>
        <p:nvPicPr>
          <p:cNvPr id="5" name="Picture 4" descr="parse_check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5120640" cy="26239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Mapping and Q-Learning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/>
            </a:pPr>
            <a:r>
              <a:t>• Per-maze state: trit edge maps (-1 unknown / 0 open / 1 wall).</a:t>
            </a:r>
          </a:p>
          <a:p>
            <a:pPr>
              <a:spcAft>
                <a:spcPts val="600"/>
              </a:spcAft>
              <a:defRPr sz="1900"/>
            </a:pPr>
            <a:r>
              <a:t>• 4 per-phase fire sets, confusion set, teleport source→dest mapping.</a:t>
            </a:r>
          </a:p>
          <a:p>
            <a:pPr>
              <a:spcAft>
                <a:spcPts val="600"/>
              </a:spcAft>
              <a:defRPr sz="1900"/>
            </a:pPr>
            <a:r>
              <a:t>• Q[row, col, phase] — tabular risk, decayed between episodes.</a:t>
            </a:r>
          </a:p>
          <a:p>
            <a:pPr>
              <a:spcAft>
                <a:spcPts val="600"/>
              </a:spcAft>
              <a:defRPr sz="1900"/>
            </a:pPr>
            <a:r>
              <a:t>• TD(0) update on death: propagates to Manhattan neighbors with geometric decay.</a:t>
            </a:r>
          </a:p>
          <a:p>
            <a:pPr>
              <a:spcAft>
                <a:spcPts val="600"/>
              </a:spcAft>
              <a:defRPr sz="1900"/>
            </a:pPr>
            <a:r>
              <a:t>• What transfers between mazes: the RiskConfig hyperparameters (learning rate, decay, penalty scale).</a:t>
            </a:r>
          </a:p>
          <a:p>
            <a:pPr>
              <a:spcAft>
                <a:spcPts val="600"/>
              </a:spcAft>
              <a:defRPr sz="1900"/>
            </a:pPr>
            <a:r>
              <a:t>• What resets between mazes: per-cell Q-values and the edge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Planner — Weighted A*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Edge cost = 1  +  fire penalty (at arrival phase)  +  confusion cost  +  w·Q-value  +  visit penalty</a:t>
            </a:r>
          </a:p>
          <a:p>
            <a:pPr>
              <a:spcAft>
                <a:spcPts val="600"/>
              </a:spcAft>
              <a:defRPr sz="2000"/>
            </a:pPr>
            <a:r>
              <a:t>• Strict pass: block every cell that has ever been a fire.</a:t>
            </a:r>
          </a:p>
          <a:p>
            <a:pPr>
              <a:spcAft>
                <a:spcPts val="600"/>
              </a:spcAft>
              <a:defRPr sz="2000"/>
            </a:pPr>
            <a:r>
              <a:t>• Relaxed pass: block only fires at the current arrival phase.</a:t>
            </a:r>
          </a:p>
          <a:p>
            <a:pPr>
              <a:spcAft>
                <a:spcPts val="600"/>
              </a:spcAft>
              <a:defRPr sz="2000"/>
            </a:pPr>
            <a:r>
              <a:t>• Frontier fallback: if goal unreachable, head toward nearest frontier cell.</a:t>
            </a:r>
          </a:p>
          <a:p>
            <a:pPr>
              <a:spcAft>
                <a:spcPts val="600"/>
              </a:spcAft>
              <a:defRPr sz="2000"/>
            </a:pPr>
            <a:r>
              <a:t>• Batching: append actions up to 5 while each next edge is known-open and landing is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Working Demo — maze-beta:  Learning → Optimal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Episode 1 — RL Exploration</a:t>
            </a:r>
          </a:p>
          <a:p>
            <a:pPr algn="ctr">
              <a:defRPr sz="1300"/>
            </a:pPr>
            <a:r>
              <a:t>5204 turns • 49 deaths • agent learns the map from scratch</a:t>
            </a:r>
          </a:p>
        </p:txBody>
      </p:sp>
      <p:pic>
        <p:nvPicPr>
          <p:cNvPr id="5" name="Picture 4" descr="beta_demo_explor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9601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Episode 3+ — BFS-Optimal (Converged)</a:t>
            </a:r>
          </a:p>
          <a:p>
            <a:pPr algn="ctr">
              <a:defRPr sz="1300"/>
            </a:pPr>
            <a:r>
              <a:t>~80 turns • 0 deaths • clean path via (2,32)→(1,32)→(0,32)→(0,31)</a:t>
            </a:r>
          </a:p>
        </p:txBody>
      </p:sp>
      <p:pic>
        <p:nvPicPr>
          <p:cNvPr id="7" name="Picture 6" descr="beta_demo_converge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512064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 — alpha + beta (5 eval episodes each)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926080"/>
                <a:gridCol w="2926080"/>
              </a:tblGrid>
              <a:tr h="484632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maze-alpha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maze-beta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Average 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1015.4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1178.4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Average path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2695.8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3680.2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Death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0.0030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0.0090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Exploration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Map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0.30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Replanning (≈ ms/turn)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50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Learning efficiency (eps to 1st)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Eps 2–5 converged 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Both mazes meet the spec's stretch goals (&gt;95% success, &lt;500 turns on converged episodes, &lt;1% deaths). No training on beta — spec requirement.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Bonus Opportunities (spec §8.2, cap: 10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846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t>• Maze-gamma attempt (5 pts)</a:t>
            </a:r>
          </a:p>
          <a:p>
            <a:pPr>
              <a:spcAft>
                <a:spcPts val="400"/>
              </a:spcAft>
              <a:defRPr sz="1400"/>
            </a:pPr>
            <a:r>
              <a:t>  5-ep evaluation run, discovered 1 of 2 teleports, reached Manhattan 25 from goal; not solved in budget.</a:t>
            </a:r>
          </a:p>
          <a:p>
            <a:pPr>
              <a:spcBef>
                <a:spcPts val="1000"/>
              </a:spcBef>
              <a:defRPr sz="1800" b="1">
                <a:solidFill>
                  <a:srgbClr val="C0392B"/>
                </a:solidFill>
              </a:defRPr>
            </a:pPr>
            <a:r>
              <a:t>• Novel visualization (up to 5 pts)</a:t>
            </a:r>
          </a:p>
          <a:p>
            <a:pPr>
              <a:spcAft>
                <a:spcPts val="400"/>
              </a:spcAft>
              <a:defRPr sz="1400"/>
            </a:pPr>
            <a:r>
              <a:t>  src/solution_dashboard.py — unified 6-panel dashboard of maps, trajectories, convergence, metrics (shown →).</a:t>
            </a:r>
          </a:p>
          <a:p>
            <a:pPr>
              <a:spcBef>
                <a:spcPts val="1000"/>
              </a:spcBef>
              <a:defRPr sz="1800" b="1">
                <a:solidFill>
                  <a:srgbClr val="C0392B"/>
                </a:solidFill>
              </a:defRPr>
            </a:pPr>
            <a:r>
              <a:t>• Open-source toolkit release (up to 5 pts)</a:t>
            </a:r>
          </a:p>
          <a:p>
            <a:pPr>
              <a:spcAft>
                <a:spcPts val="400"/>
              </a:spcAft>
              <a:defRPr sz="1400"/>
            </a:pPr>
            <a:r>
              <a:t>  MIT license, complete README with install + public API example, spec-agnostic code.</a:t>
            </a:r>
          </a:p>
        </p:txBody>
      </p:sp>
      <p:pic>
        <p:nvPicPr>
          <p:cNvPr id="5" name="Picture 4" descr="solu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661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Turned Beta from ‘Unsolvable' to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/>
            </a:pPr>
            <a:r>
              <a:t>• Off-by-one phase fix: environment checks pits at pre-increment phase; we had been using post-increment, so every 5th planned step walked into a fire.</a:t>
            </a:r>
          </a:p>
          <a:p>
            <a:pPr>
              <a:spcAft>
                <a:spcPts val="600"/>
              </a:spcAft>
              <a:defRPr sz="1900"/>
            </a:pPr>
            <a:r>
              <a:t>• Goal-biased frontier targeting: enumerate known-open cells that still have an unknown edge, sort by Manhattan distance to goal, BFS to the closest one.</a:t>
            </a:r>
          </a:p>
          <a:p>
            <a:pPr>
              <a:spcAft>
                <a:spcPts val="600"/>
              </a:spcAft>
              <a:defRPr sz="1900"/>
            </a:pPr>
            <a:r>
              <a:t>• A* cycle guard: negative-cost teleport bonuses could make came_from cycle; the reconstruction loop spun forever. Floored edge costs at 0.05 and added a seen-set guard.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Hybrid RL + phase-aware BFS + frontier planner reaches 100% success on both alpha and beta (5/5 each, no training on beta).</a:t>
            </a:r>
          </a:p>
          <a:p>
            <a:pPr>
              <a:spcAft>
                <a:spcPts val="600"/>
              </a:spcAft>
              <a:defRPr sz="2000"/>
            </a:pPr>
            <a:r>
              <a:t>• Episode 1 is exploratory; episodes 2–5 run the BFS-optimal path in 80–87 turns with 0 deaths.</a:t>
            </a:r>
          </a:p>
          <a:p>
            <a:pPr>
              <a:spcAft>
                <a:spcPts val="600"/>
              </a:spcAft>
              <a:defRPr sz="2000"/>
            </a:pPr>
            <a:r>
              <a:t>• Beta's walled-off goal would have defeated pure nearest-frontier exploration — goal-biased frontier targeting is what made the transfer work.</a:t>
            </a:r>
          </a:p>
          <a:p>
            <a:pPr>
              <a:spcAft>
                <a:spcPts val="600"/>
              </a:spcAft>
              <a:defRPr sz="2000"/>
            </a:pPr>
            <a:r>
              <a:t>• AI usage fully disclosed in report.pdf (Claude Code, Opus 4.7, 1M-context).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Thank you  —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Group 15  •  Marlon Melara, Ahnaf Murshid  |  Silent Cartographer: Hybrid RL + A* Agent  |  April 22, 2026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